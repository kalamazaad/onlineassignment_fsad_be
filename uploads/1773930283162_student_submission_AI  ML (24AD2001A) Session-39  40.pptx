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432" r:id="rId3"/>
    <p:sldId id="433" r:id="rId4"/>
    <p:sldId id="324" r:id="rId5"/>
    <p:sldId id="395" r:id="rId6"/>
    <p:sldId id="423" r:id="rId7"/>
    <p:sldId id="396" r:id="rId8"/>
    <p:sldId id="440" r:id="rId9"/>
    <p:sldId id="441" r:id="rId10"/>
    <p:sldId id="424" r:id="rId11"/>
    <p:sldId id="444" r:id="rId12"/>
    <p:sldId id="425" r:id="rId13"/>
    <p:sldId id="446" r:id="rId14"/>
    <p:sldId id="434" r:id="rId15"/>
    <p:sldId id="442" r:id="rId16"/>
    <p:sldId id="443" r:id="rId17"/>
    <p:sldId id="426" r:id="rId18"/>
    <p:sldId id="438" r:id="rId19"/>
    <p:sldId id="447" r:id="rId20"/>
    <p:sldId id="448" r:id="rId21"/>
    <p:sldId id="28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20-10-2025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skillfloor.com/blog/importance-of-machine-learn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vitalflux.com/hold-out-method-for-training-machine-learning-mode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3293169"/>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b="1" dirty="0" smtClean="0"/>
              <a:t>Ethics, Fairness, </a:t>
            </a:r>
            <a:r>
              <a:rPr lang="en-IN" sz="2400" b="1" dirty="0" err="1" smtClean="0"/>
              <a:t>Explainability</a:t>
            </a:r>
            <a:r>
              <a:rPr lang="en-IN" sz="2400" b="1" dirty="0" smtClean="0"/>
              <a:t>:</a:t>
            </a:r>
            <a:r>
              <a:rPr lang="en-IN" sz="2400" dirty="0" smtClean="0"/>
              <a:t> </a:t>
            </a:r>
            <a:r>
              <a:rPr lang="en-US" sz="2400" dirty="0" smtClean="0"/>
              <a:t>transparency,  </a:t>
            </a:r>
            <a:r>
              <a:rPr lang="en-US" sz="2400" dirty="0" smtClean="0"/>
              <a:t>human-in-the-loop, </a:t>
            </a:r>
            <a:r>
              <a:rPr lang="en-IN" sz="2400" b="1" dirty="0" smtClean="0"/>
              <a:t>Advanced Evaluation Methods: </a:t>
            </a:r>
            <a:r>
              <a:rPr lang="en-IN" sz="2400" dirty="0" smtClean="0"/>
              <a:t>Cross-validation strategies: stratified k-fold, leave-one-out, time series split</a:t>
            </a:r>
            <a:endParaRPr lang="en-US" sz="2400" dirty="0" smtClean="0"/>
          </a:p>
          <a:p>
            <a:pPr fontAlgn="base"/>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37378" y="4123198"/>
            <a:ext cx="2484257"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a:t>
            </a:r>
            <a:r>
              <a:rPr lang="en-US" sz="2400" dirty="0" smtClean="0">
                <a:solidFill>
                  <a:schemeClr val="lt1"/>
                </a:solidFill>
                <a:ea typeface="Calibri" panose="020F0502020204030204"/>
                <a:cs typeface="Poppins" panose="00000500000000000000" pitchFamily="2" charset="0"/>
                <a:sym typeface="Calibri" panose="020F0502020204030204"/>
              </a:rPr>
              <a:t>39 &amp;40</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Transparency</a:t>
            </a:r>
            <a:r>
              <a:rPr lang="en-US" b="1" dirty="0" smtClean="0"/>
              <a:t/>
            </a:r>
            <a:br>
              <a:rPr lang="en-US" b="1" dirty="0" smtClean="0"/>
            </a:br>
            <a:endParaRPr lang="en-US" dirty="0"/>
          </a:p>
        </p:txBody>
      </p:sp>
      <p:sp>
        <p:nvSpPr>
          <p:cNvPr id="3" name="Content Placeholder 2"/>
          <p:cNvSpPr>
            <a:spLocks noGrp="1"/>
          </p:cNvSpPr>
          <p:nvPr>
            <p:ph idx="1"/>
          </p:nvPr>
        </p:nvSpPr>
        <p:spPr>
          <a:xfrm>
            <a:off x="1451579" y="2015732"/>
            <a:ext cx="9603275" cy="4149541"/>
          </a:xfrm>
        </p:spPr>
        <p:txBody>
          <a:bodyPr>
            <a:normAutofit/>
          </a:bodyPr>
          <a:lstStyle/>
          <a:p>
            <a:pPr algn="just"/>
            <a:r>
              <a:rPr lang="en-US" dirty="0" smtClean="0"/>
              <a:t>Transparency is closely related to </a:t>
            </a:r>
            <a:r>
              <a:rPr lang="en-US" dirty="0" err="1" smtClean="0"/>
              <a:t>explainability</a:t>
            </a:r>
            <a:r>
              <a:rPr lang="en-US" dirty="0" smtClean="0"/>
              <a:t> and is the practice of openly communicating how an AI system was developed and how it works. While </a:t>
            </a:r>
            <a:r>
              <a:rPr lang="en-US" dirty="0" err="1" smtClean="0"/>
              <a:t>explainability</a:t>
            </a:r>
            <a:r>
              <a:rPr lang="en-US" dirty="0" smtClean="0"/>
              <a:t> focuses on why a model made a specific decision, transparency provides a broader view. Aspects of transparency include: </a:t>
            </a:r>
          </a:p>
          <a:p>
            <a:pPr algn="just"/>
            <a:r>
              <a:rPr lang="en-US" b="1" dirty="0" smtClean="0"/>
              <a:t>Algorithmic transparency:</a:t>
            </a:r>
            <a:r>
              <a:rPr lang="en-US" dirty="0" smtClean="0"/>
              <a:t> Disclosing the logic, reasoning, and data inputs of the AI.</a:t>
            </a:r>
          </a:p>
          <a:p>
            <a:pPr algn="just"/>
            <a:r>
              <a:rPr lang="en-US" b="1" dirty="0" smtClean="0"/>
              <a:t>Data transparency:</a:t>
            </a:r>
            <a:r>
              <a:rPr lang="en-US" dirty="0" smtClean="0"/>
              <a:t> Being open about the data used for training and testing, including its sources and any biases.</a:t>
            </a:r>
          </a:p>
          <a:p>
            <a:pPr algn="just"/>
            <a:r>
              <a:rPr lang="en-US" b="1" dirty="0" smtClean="0"/>
              <a:t>Interaction transparency:</a:t>
            </a:r>
            <a:r>
              <a:rPr lang="en-US" dirty="0" smtClean="0"/>
              <a:t> Informing users when they are interacting with an AI system, such as a </a:t>
            </a:r>
            <a:r>
              <a:rPr lang="en-US" dirty="0" err="1" smtClean="0"/>
              <a:t>chatbot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Human-in-the-loop (HITL)</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
        <p:nvSpPr>
          <p:cNvPr id="5" name="Content Placeholder 4"/>
          <p:cNvSpPr>
            <a:spLocks noGrp="1"/>
          </p:cNvSpPr>
          <p:nvPr>
            <p:ph idx="1"/>
          </p:nvPr>
        </p:nvSpPr>
        <p:spPr>
          <a:xfrm>
            <a:off x="1451579" y="1884218"/>
            <a:ext cx="9603275" cy="4156364"/>
          </a:xfrm>
        </p:spPr>
        <p:txBody>
          <a:bodyPr>
            <a:normAutofit/>
          </a:bodyPr>
          <a:lstStyle/>
          <a:p>
            <a:pPr algn="just"/>
            <a:r>
              <a:rPr lang="en-US" dirty="0" smtClean="0"/>
              <a:t>Human-in-the-loop is an approach that integrates human judgment and oversight into an AI system's lifecycle. Humans can be involved in various stages to provide valuable input and ensure ethical behavior: </a:t>
            </a:r>
          </a:p>
          <a:p>
            <a:pPr algn="just"/>
            <a:r>
              <a:rPr lang="en-US" b="1" dirty="0" smtClean="0"/>
              <a:t>Training:</a:t>
            </a:r>
            <a:r>
              <a:rPr lang="en-US" dirty="0" smtClean="0"/>
              <a:t> Humans can label and annotate data, which is crucial for supervised learning models.</a:t>
            </a:r>
          </a:p>
          <a:p>
            <a:pPr algn="just"/>
            <a:r>
              <a:rPr lang="en-US" b="1" dirty="0" smtClean="0"/>
              <a:t>Evaluation:</a:t>
            </a:r>
            <a:r>
              <a:rPr lang="en-US" dirty="0" smtClean="0"/>
              <a:t> Humans can review and correct a model's predictions, especially in complex or sensitive edge cases that the AI is not equipped to handle.</a:t>
            </a:r>
          </a:p>
          <a:p>
            <a:pPr algn="just"/>
            <a:r>
              <a:rPr lang="en-US" b="1" dirty="0" smtClean="0"/>
              <a:t>Oversight:</a:t>
            </a:r>
            <a:r>
              <a:rPr lang="en-US" dirty="0" smtClean="0"/>
              <a:t> Humans can monitor autonomous systems, with the authority to intervene and override decisions if necessary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Benefits of HITL </a:t>
            </a:r>
            <a:endParaRPr lang="en-US" b="1" dirty="0"/>
          </a:p>
        </p:txBody>
      </p:sp>
      <p:sp>
        <p:nvSpPr>
          <p:cNvPr id="3" name="Content Placeholder 2"/>
          <p:cNvSpPr>
            <a:spLocks noGrp="1"/>
          </p:cNvSpPr>
          <p:nvPr>
            <p:ph idx="1"/>
          </p:nvPr>
        </p:nvSpPr>
        <p:spPr>
          <a:xfrm>
            <a:off x="1451579" y="2015732"/>
            <a:ext cx="9603275" cy="4080268"/>
          </a:xfrm>
          <a:ln>
            <a:solidFill>
              <a:schemeClr val="tx1"/>
            </a:solidFill>
          </a:ln>
        </p:spPr>
        <p:txBody>
          <a:bodyPr>
            <a:normAutofit/>
          </a:bodyPr>
          <a:lstStyle/>
          <a:p>
            <a:pPr algn="just"/>
            <a:r>
              <a:rPr lang="en-US" dirty="0" smtClean="0"/>
              <a:t>Human-in-the-loop machine learning allows humans to provide oversight and input into AI workflows. Here are the primary benefits of human-in-the-loop:</a:t>
            </a:r>
          </a:p>
          <a:p>
            <a:pPr algn="just"/>
            <a:r>
              <a:rPr lang="en-US" dirty="0" smtClean="0"/>
              <a:t>Accuracy and reliability</a:t>
            </a:r>
          </a:p>
          <a:p>
            <a:pPr algn="just"/>
            <a:r>
              <a:rPr lang="en-US" dirty="0" smtClean="0"/>
              <a:t>Ethical decision-making and accountability</a:t>
            </a:r>
          </a:p>
          <a:p>
            <a:pPr algn="just"/>
            <a:r>
              <a:rPr lang="en-US" dirty="0" smtClean="0"/>
              <a:t>Transparency and </a:t>
            </a:r>
            <a:r>
              <a:rPr lang="en-US" dirty="0" err="1" smtClean="0"/>
              <a:t>explainability</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b="1" dirty="0" smtClean="0"/>
              <a:t>Advanced Evaluation Methods: </a:t>
            </a:r>
            <a:r>
              <a:rPr lang="en-IN" dirty="0" smtClean="0"/>
              <a:t>Cross-validation strategies: stratified </a:t>
            </a:r>
            <a:r>
              <a:rPr lang="en-IN" dirty="0" smtClean="0"/>
              <a:t>k-fold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
        <p:nvSpPr>
          <p:cNvPr id="6" name="Content Placeholder 5"/>
          <p:cNvSpPr>
            <a:spLocks noGrp="1"/>
          </p:cNvSpPr>
          <p:nvPr>
            <p:ph idx="1"/>
          </p:nvPr>
        </p:nvSpPr>
        <p:spPr>
          <a:xfrm>
            <a:off x="1451579" y="1787236"/>
            <a:ext cx="9603275" cy="4378037"/>
          </a:xfrm>
        </p:spPr>
        <p:txBody>
          <a:bodyPr>
            <a:normAutofit fontScale="92500"/>
          </a:bodyPr>
          <a:lstStyle/>
          <a:p>
            <a:pPr algn="just"/>
            <a:r>
              <a:rPr lang="en-US" dirty="0" smtClean="0"/>
              <a:t>Cross-validation is a technique used to check how well a machine learning model performs on unseen data while preventing </a:t>
            </a:r>
            <a:r>
              <a:rPr lang="en-US" dirty="0" err="1" smtClean="0"/>
              <a:t>overfitting</a:t>
            </a:r>
            <a:r>
              <a:rPr lang="en-US" dirty="0" smtClean="0"/>
              <a:t>. It works by:</a:t>
            </a:r>
          </a:p>
          <a:p>
            <a:pPr algn="just"/>
            <a:r>
              <a:rPr lang="en-US" dirty="0" smtClean="0"/>
              <a:t>Splitting the dataset into several parts.</a:t>
            </a:r>
          </a:p>
          <a:p>
            <a:pPr algn="just"/>
            <a:r>
              <a:rPr lang="en-US" dirty="0" smtClean="0"/>
              <a:t>Training the model on some parts and testing it on the remaining part.</a:t>
            </a:r>
          </a:p>
          <a:p>
            <a:pPr algn="just"/>
            <a:r>
              <a:rPr lang="en-US" dirty="0" smtClean="0"/>
              <a:t>Repeating this </a:t>
            </a:r>
            <a:r>
              <a:rPr lang="en-US" dirty="0" err="1" smtClean="0"/>
              <a:t>resampling</a:t>
            </a:r>
            <a:r>
              <a:rPr lang="en-US" dirty="0" smtClean="0"/>
              <a:t> process multiple times by choosing different parts of the dataset.</a:t>
            </a:r>
          </a:p>
          <a:p>
            <a:pPr algn="just"/>
            <a:r>
              <a:rPr lang="en-US" dirty="0" smtClean="0"/>
              <a:t>Averaging the results from each validation step to get the final performance</a:t>
            </a:r>
            <a:r>
              <a:rPr lang="en-US" dirty="0" smtClean="0"/>
              <a:t>.</a:t>
            </a:r>
          </a:p>
          <a:p>
            <a:pPr algn="just"/>
            <a:r>
              <a:rPr lang="en-US" dirty="0" smtClean="0"/>
              <a:t>Cross-validation addresses a fundamental challenge in </a:t>
            </a:r>
            <a:r>
              <a:rPr lang="en-US" b="1" dirty="0" smtClean="0">
                <a:hlinkClick r:id="rId2" tooltip="machine learning"/>
              </a:rPr>
              <a:t>machine learning</a:t>
            </a:r>
            <a:r>
              <a:rPr lang="en-US" dirty="0" smtClean="0"/>
              <a:t>: </a:t>
            </a:r>
            <a:r>
              <a:rPr lang="en-US" dirty="0" err="1" smtClean="0"/>
              <a:t>overfitting</a:t>
            </a:r>
            <a:r>
              <a:rPr lang="en-US" dirty="0" smtClean="0"/>
              <a:t>. </a:t>
            </a:r>
            <a:r>
              <a:rPr lang="en-US" dirty="0" err="1" smtClean="0"/>
              <a:t>Overfitting</a:t>
            </a:r>
            <a:r>
              <a:rPr lang="en-US" dirty="0" smtClean="0"/>
              <a:t> occurs when a model performs exceptionally well on training data but poorly on unseen data. This typically happens when the model has memorized the training data rather than learning the underlying patterns.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Benefits of using cross-validation:</a:t>
            </a:r>
            <a:endParaRPr lang="en-US" b="1" dirty="0"/>
          </a:p>
        </p:txBody>
      </p:sp>
      <p:sp>
        <p:nvSpPr>
          <p:cNvPr id="3" name="Content Placeholder 2"/>
          <p:cNvSpPr>
            <a:spLocks noGrp="1"/>
          </p:cNvSpPr>
          <p:nvPr>
            <p:ph idx="1"/>
          </p:nvPr>
        </p:nvSpPr>
        <p:spPr>
          <a:xfrm>
            <a:off x="1451579" y="1870364"/>
            <a:ext cx="9603275" cy="4267200"/>
          </a:xfrm>
        </p:spPr>
        <p:txBody>
          <a:bodyPr>
            <a:normAutofit/>
          </a:bodyPr>
          <a:lstStyle/>
          <a:p>
            <a:r>
              <a:rPr lang="en-US" b="1" dirty="0" smtClean="0"/>
              <a:t>Reduces variance</a:t>
            </a:r>
            <a:r>
              <a:rPr lang="en-US" dirty="0" smtClean="0"/>
              <a:t>: Helps in reducing the variability of model performance by using multiple validation sets. </a:t>
            </a:r>
          </a:p>
          <a:p>
            <a:r>
              <a:rPr lang="en-US" b="1" dirty="0" smtClean="0"/>
              <a:t>Better model selection</a:t>
            </a:r>
            <a:r>
              <a:rPr lang="en-US" dirty="0" smtClean="0"/>
              <a:t>: Assists in choosing the best model or algorithm by providing more reliable error estimates. </a:t>
            </a:r>
          </a:p>
          <a:p>
            <a:r>
              <a:rPr lang="en-US" b="1" dirty="0" smtClean="0"/>
              <a:t>Reliable performance estimation</a:t>
            </a:r>
            <a:r>
              <a:rPr lang="en-US" dirty="0" smtClean="0"/>
              <a:t>: Offers a more truthful understanding of how the model performs in practice. </a:t>
            </a:r>
          </a:p>
          <a:p>
            <a:r>
              <a:rPr lang="en-US" b="1" dirty="0" err="1" smtClean="0"/>
              <a:t>Hyperparameter</a:t>
            </a:r>
            <a:r>
              <a:rPr lang="en-US" b="1" dirty="0" smtClean="0"/>
              <a:t> tuning</a:t>
            </a:r>
            <a:r>
              <a:rPr lang="en-US" dirty="0" smtClean="0"/>
              <a:t>: Cross-validation is essential during grid search or random search for selecting optimal parameters. </a:t>
            </a:r>
          </a:p>
          <a:p>
            <a:r>
              <a:rPr lang="en-US" b="1" dirty="0" smtClean="0"/>
              <a:t>Data-efficient learning</a:t>
            </a:r>
            <a:r>
              <a:rPr lang="en-US" dirty="0" smtClean="0"/>
              <a:t>: Makes better use of the dataset, especially when the amount of data is limited. </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Common Cross-Validation Techniques</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6" name="Content Placeholder 5"/>
          <p:cNvSpPr>
            <a:spLocks noGrp="1"/>
          </p:cNvSpPr>
          <p:nvPr>
            <p:ph idx="1"/>
          </p:nvPr>
        </p:nvSpPr>
        <p:spPr>
          <a:xfrm>
            <a:off x="1451579" y="1731818"/>
            <a:ext cx="9603275" cy="4585855"/>
          </a:xfrm>
        </p:spPr>
        <p:txBody>
          <a:bodyPr>
            <a:normAutofit lnSpcReduction="10000"/>
          </a:bodyPr>
          <a:lstStyle/>
          <a:p>
            <a:pPr algn="just"/>
            <a:r>
              <a:rPr lang="en-US" sz="1800" dirty="0" smtClean="0"/>
              <a:t>Cross-validation </a:t>
            </a:r>
            <a:r>
              <a:rPr lang="en-US" sz="1800" dirty="0" smtClean="0"/>
              <a:t>plays a pivotal role in assessing the reliability of machine learning models. To maximize its effectiveness, it's important to select the right validation strategy based on the dataset size, structure, and objective. Below are the most commonly used cross-validation techniques in machine learning: </a:t>
            </a:r>
          </a:p>
          <a:p>
            <a:pPr algn="just">
              <a:buNone/>
            </a:pPr>
            <a:r>
              <a:rPr lang="en-US" sz="1800" b="1" dirty="0" smtClean="0">
                <a:solidFill>
                  <a:srgbClr val="FF0000"/>
                </a:solidFill>
              </a:rPr>
              <a:t>1. K-Fold Cross-Validation</a:t>
            </a:r>
            <a:r>
              <a:rPr lang="en-US" sz="1800" dirty="0" smtClean="0">
                <a:solidFill>
                  <a:srgbClr val="FF0000"/>
                </a:solidFill>
              </a:rPr>
              <a:t> </a:t>
            </a:r>
          </a:p>
          <a:p>
            <a:pPr algn="just"/>
            <a:r>
              <a:rPr lang="en-US" sz="1800" dirty="0" smtClean="0"/>
              <a:t>K-Fold is the most popular form of cross-validation. Here, the dataset is divided into k equal parts or "folds." In each iteration, one fold is used for validation while the remaining k-1 folds are used for training. This process is repeated k times, and the results are averaged for a final performance estimate. </a:t>
            </a:r>
          </a:p>
          <a:p>
            <a:pPr algn="just"/>
            <a:r>
              <a:rPr lang="en-US" sz="1800" b="1" dirty="0" smtClean="0"/>
              <a:t>Best For</a:t>
            </a:r>
            <a:r>
              <a:rPr lang="en-US" sz="1800" dirty="0" smtClean="0"/>
              <a:t>: General-purpose validation with moderate dataset sizes. </a:t>
            </a:r>
          </a:p>
          <a:p>
            <a:pPr algn="just"/>
            <a:r>
              <a:rPr lang="en-US" sz="1800" b="1" dirty="0" smtClean="0"/>
              <a:t>Benefits</a:t>
            </a:r>
            <a:r>
              <a:rPr lang="en-US" sz="1800" dirty="0" smtClean="0"/>
              <a:t>: Balanced bias and variance; efficient for model evaluation. </a:t>
            </a:r>
          </a:p>
          <a:p>
            <a:pPr algn="just"/>
            <a:r>
              <a:rPr lang="en-US" sz="1800" b="1" dirty="0" smtClean="0"/>
              <a:t>Limitation</a:t>
            </a:r>
            <a:r>
              <a:rPr lang="en-US" sz="1800" dirty="0" smtClean="0"/>
              <a:t>: May not preserve class distribution in imbalanced datasets. </a:t>
            </a:r>
          </a:p>
          <a:p>
            <a:pPr algn="just">
              <a:buNone/>
            </a:pPr>
            <a:endParaRPr lang="en-US" sz="5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42655"/>
            <a:ext cx="9603275" cy="4294909"/>
          </a:xfrm>
        </p:spPr>
        <p:txBody>
          <a:bodyPr/>
          <a:lstStyle/>
          <a:p>
            <a:pPr algn="just"/>
            <a:r>
              <a:rPr lang="en-US" dirty="0" smtClean="0"/>
              <a:t>In this technique, the whole dataset is partitioned in k parts of equal size and each partition is called a fold. It’s known as k-fold since there are k parts where k can be any integer - 3,4,5, etc</a:t>
            </a:r>
            <a:r>
              <a:rPr lang="en-US" dirty="0" smtClean="0"/>
              <a:t>. One </a:t>
            </a:r>
            <a:r>
              <a:rPr lang="en-US" dirty="0" smtClean="0"/>
              <a:t>fold is used for validation and other K-1 folds are used for training the model. To use every fold as a validation set and other left-outs as a training set, this technique is repeated k times until each fold is used once.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pic>
        <p:nvPicPr>
          <p:cNvPr id="1026" name="Picture 2"/>
          <p:cNvPicPr>
            <a:picLocks noChangeAspect="1" noChangeArrowheads="1"/>
          </p:cNvPicPr>
          <p:nvPr/>
        </p:nvPicPr>
        <p:blipFill>
          <a:blip r:embed="rId2" cstate="print"/>
          <a:srcRect/>
          <a:stretch>
            <a:fillRect/>
          </a:stretch>
        </p:blipFill>
        <p:spPr bwMode="auto">
          <a:xfrm>
            <a:off x="1717964" y="3699164"/>
            <a:ext cx="9157854" cy="2618509"/>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14946"/>
            <a:ext cx="9603275" cy="4239490"/>
          </a:xfrm>
        </p:spPr>
        <p:txBody>
          <a:bodyPr/>
          <a:lstStyle/>
          <a:p>
            <a:pPr algn="just"/>
            <a:r>
              <a:rPr lang="en-US" dirty="0" smtClean="0"/>
              <a:t>The image above shows 5 folds and hence, 5 iterations. In each iteration, one fold is the test set/validation set and the other k-1 sets (4 sets) are the train set. To get the final accuracy, you need to take the accuracy of the k-models validation data.</a:t>
            </a:r>
          </a:p>
          <a:p>
            <a:pPr algn="just"/>
            <a:r>
              <a:rPr lang="en-US" dirty="0" smtClean="0"/>
              <a:t>This validation technique is not considered suitable for imbalanced datasets as the model will not get trained properly owing to the proper ratio of each class's data.</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928256"/>
            <a:ext cx="9603275" cy="5209308"/>
          </a:xfrm>
        </p:spPr>
        <p:txBody>
          <a:bodyPr>
            <a:normAutofit lnSpcReduction="10000"/>
          </a:bodyPr>
          <a:lstStyle/>
          <a:p>
            <a:pPr>
              <a:buNone/>
            </a:pPr>
            <a:r>
              <a:rPr lang="en-US" sz="2400" b="1" dirty="0" smtClean="0"/>
              <a:t>2. Stratified K-Fold Cross-Validation</a:t>
            </a:r>
            <a:r>
              <a:rPr lang="en-US" sz="2400" dirty="0" smtClean="0"/>
              <a:t> </a:t>
            </a:r>
          </a:p>
          <a:p>
            <a:endParaRPr lang="en-US" b="1" dirty="0" smtClean="0"/>
          </a:p>
          <a:p>
            <a:pPr>
              <a:buNone/>
            </a:pPr>
            <a:r>
              <a:rPr lang="en-US" b="1" dirty="0" smtClean="0">
                <a:solidFill>
                  <a:srgbClr val="FF0000"/>
                </a:solidFill>
              </a:rPr>
              <a:t>2. Stratified K-Fold Cross-Validation</a:t>
            </a:r>
            <a:r>
              <a:rPr lang="en-US" dirty="0" smtClean="0">
                <a:solidFill>
                  <a:srgbClr val="FF0000"/>
                </a:solidFill>
              </a:rPr>
              <a:t> </a:t>
            </a:r>
          </a:p>
          <a:p>
            <a:pPr algn="just"/>
            <a:r>
              <a:rPr lang="en-US" dirty="0" smtClean="0"/>
              <a:t>Stratified K-Fold ensures that each fold maintains the same class distribution as the overall dataset. This is particularly useful for classification problems where some classes may be underrepresented. </a:t>
            </a:r>
          </a:p>
          <a:p>
            <a:pPr algn="just"/>
            <a:r>
              <a:rPr lang="en-US" b="1" dirty="0" smtClean="0"/>
              <a:t>Best For</a:t>
            </a:r>
            <a:r>
              <a:rPr lang="en-US" dirty="0" smtClean="0"/>
              <a:t>: Classification with imbalanced class labels. </a:t>
            </a:r>
          </a:p>
          <a:p>
            <a:pPr algn="just"/>
            <a:r>
              <a:rPr lang="en-US" b="1" dirty="0" smtClean="0"/>
              <a:t>Benefits</a:t>
            </a:r>
            <a:r>
              <a:rPr lang="en-US" dirty="0" smtClean="0"/>
              <a:t>: Maintains class ratios across folds; more stable accuracy estimates. </a:t>
            </a:r>
          </a:p>
          <a:p>
            <a:pPr algn="just"/>
            <a:r>
              <a:rPr lang="en-US" b="1" dirty="0" smtClean="0"/>
              <a:t>Limitation</a:t>
            </a:r>
            <a:r>
              <a:rPr lang="en-US" dirty="0" smtClean="0"/>
              <a:t>: Slightly more complex to implement than simple K-Fold. </a:t>
            </a:r>
            <a:endParaRPr lang="en-US" dirty="0" smtClean="0"/>
          </a:p>
          <a:p>
            <a:pPr algn="just">
              <a:buNone/>
            </a:pPr>
            <a:r>
              <a:rPr lang="en-US" dirty="0" smtClean="0"/>
              <a:t>In the example </a:t>
            </a:r>
            <a:r>
              <a:rPr lang="en-US" dirty="0" smtClean="0"/>
              <a:t>below, </a:t>
            </a:r>
            <a:r>
              <a:rPr lang="en-US" dirty="0" smtClean="0"/>
              <a:t>the original dataset contains females that are a lot less than males, so this target variable distribution is imbalanced. In the stratified k-fold cross-validation technique, this ratio of instances of the target variable is maintained in all the folds.</a:t>
            </a:r>
          </a:p>
          <a:p>
            <a:pPr algn="just"/>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451579" y="1842655"/>
            <a:ext cx="9603275" cy="4267199"/>
          </a:xfrm>
        </p:spPr>
        <p:txBody>
          <a:bodyPr/>
          <a:lstStyle/>
          <a:p>
            <a:endParaRPr lang="en-US" dirty="0" smtClean="0"/>
          </a:p>
          <a:p>
            <a:endParaRPr lang="en-US" dirty="0" smtClean="0"/>
          </a:p>
          <a:p>
            <a:endParaRPr lang="en-US" dirty="0" smtClean="0"/>
          </a:p>
          <a:p>
            <a:endParaRPr lang="en-US" dirty="0" smtClean="0"/>
          </a:p>
          <a:p>
            <a:r>
              <a:rPr lang="en-US" dirty="0" smtClean="0"/>
              <a:t>As seen above, k-fold validation can’t be used for imbalanced datasets because data is split into k-folds with a uniform probability distribution. Not so with stratified k-fold, which is an enhanced version of the k-fold cross-validation technique. Although it too splits the dataset into k equal folds, each fold has the same ratio of instances of target variables that are in the complete dataset. This enables it to work perfectly for imbalanced datasets, but not for time-series data.</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pic>
        <p:nvPicPr>
          <p:cNvPr id="4098" name="Picture 2"/>
          <p:cNvPicPr>
            <a:picLocks noChangeAspect="1" noChangeArrowheads="1"/>
          </p:cNvPicPr>
          <p:nvPr/>
        </p:nvPicPr>
        <p:blipFill>
          <a:blip r:embed="rId2" cstate="print"/>
          <a:srcRect/>
          <a:stretch>
            <a:fillRect/>
          </a:stretch>
        </p:blipFill>
        <p:spPr bwMode="auto">
          <a:xfrm>
            <a:off x="1343890" y="-1"/>
            <a:ext cx="10404765" cy="372687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Leave-One-Out Cross-Validation (LOOCV)</a:t>
            </a:r>
            <a:r>
              <a:rPr lang="en-US" dirty="0" smtClean="0"/>
              <a:t> </a:t>
            </a:r>
          </a:p>
        </p:txBody>
      </p:sp>
      <p:sp>
        <p:nvSpPr>
          <p:cNvPr id="3" name="Content Placeholder 2"/>
          <p:cNvSpPr>
            <a:spLocks noGrp="1"/>
          </p:cNvSpPr>
          <p:nvPr>
            <p:ph idx="1"/>
          </p:nvPr>
        </p:nvSpPr>
        <p:spPr>
          <a:xfrm>
            <a:off x="1451579" y="1842654"/>
            <a:ext cx="9603275" cy="4405746"/>
          </a:xfrm>
        </p:spPr>
        <p:txBody>
          <a:bodyPr>
            <a:normAutofit/>
          </a:bodyPr>
          <a:lstStyle/>
          <a:p>
            <a:pPr>
              <a:buNone/>
            </a:pPr>
            <a:r>
              <a:rPr lang="en-US" b="1" dirty="0" smtClean="0">
                <a:solidFill>
                  <a:srgbClr val="FF0000"/>
                </a:solidFill>
              </a:rPr>
              <a:t>3. Leave-One-Out Cross-Validation (LOOCV)</a:t>
            </a:r>
            <a:r>
              <a:rPr lang="en-US" dirty="0" smtClean="0">
                <a:solidFill>
                  <a:srgbClr val="FF0000"/>
                </a:solidFill>
              </a:rPr>
              <a:t> </a:t>
            </a:r>
          </a:p>
          <a:p>
            <a:r>
              <a:rPr lang="en-US" dirty="0" smtClean="0"/>
              <a:t>In LOOCV, each data point is used once as the validation set while the rest of the data is used for training. This process repeats n times, where n is the number of data points. </a:t>
            </a:r>
          </a:p>
          <a:p>
            <a:r>
              <a:rPr lang="en-US" b="1" dirty="0" smtClean="0"/>
              <a:t>Best For</a:t>
            </a:r>
            <a:r>
              <a:rPr lang="en-US" dirty="0" smtClean="0"/>
              <a:t>: Very small datasets. </a:t>
            </a:r>
          </a:p>
          <a:p>
            <a:r>
              <a:rPr lang="en-US" b="1" dirty="0" smtClean="0"/>
              <a:t>Benefits</a:t>
            </a:r>
            <a:r>
              <a:rPr lang="en-US" dirty="0" smtClean="0"/>
              <a:t>: Maximum data usage for training; minimal bias. </a:t>
            </a:r>
          </a:p>
          <a:p>
            <a:r>
              <a:rPr lang="en-US" b="1" dirty="0" smtClean="0"/>
              <a:t>Limitation</a:t>
            </a:r>
            <a:r>
              <a:rPr lang="en-US" dirty="0" smtClean="0"/>
              <a:t>: Computationally intensive; can have high variance. </a:t>
            </a:r>
            <a:endParaRPr lang="en-US" dirty="0" smtClean="0"/>
          </a:p>
          <a:p>
            <a:r>
              <a:rPr lang="en-US" dirty="0" smtClean="0"/>
              <a:t>The leave-one-out cross-validation method is computationally expensive to perform and shouldn’t be used with very large datasets. The good news is that the technique is very simple and requires no configuration to specify. It also provides a reliable and unbiased estimate for your model performance.</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451579" y="2015732"/>
            <a:ext cx="9603275" cy="4107977"/>
          </a:xfrm>
        </p:spPr>
        <p:txBody>
          <a:bodyPr>
            <a:normAutofit lnSpcReduction="10000"/>
          </a:bodyPr>
          <a:lstStyle/>
          <a:p>
            <a:endParaRPr lang="en-US" dirty="0" smtClean="0"/>
          </a:p>
          <a:p>
            <a:endParaRPr lang="en-US" dirty="0" smtClean="0"/>
          </a:p>
          <a:p>
            <a:endParaRPr lang="en-US" dirty="0" smtClean="0"/>
          </a:p>
          <a:p>
            <a:r>
              <a:rPr lang="en-US" dirty="0" smtClean="0"/>
              <a:t>In this technique, only 1 sample point is used as a validation set and the remaining n-1 samples are used in the training set. Think of it as a more specific case of the leave-p-out cross-validation technique with P=1.</a:t>
            </a:r>
          </a:p>
          <a:p>
            <a:r>
              <a:rPr lang="en-US" dirty="0" smtClean="0"/>
              <a:t>To understand this better, consider this example:</a:t>
            </a:r>
            <a:br>
              <a:rPr lang="en-US" dirty="0" smtClean="0"/>
            </a:br>
            <a:r>
              <a:rPr lang="en-US" dirty="0" smtClean="0"/>
              <a:t>There are 1000 instances in your dataset. In each iteration, 1 instance will be used for the validation set and the remaining 999 instances will be used as the training set. The process repeats itself until every instance from the dataset is used as a validation sample.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5122" name="Picture 2"/>
          <p:cNvPicPr>
            <a:picLocks noChangeAspect="1" noChangeArrowheads="1"/>
          </p:cNvPicPr>
          <p:nvPr/>
        </p:nvPicPr>
        <p:blipFill>
          <a:blip r:embed="rId2" cstate="print"/>
          <a:srcRect/>
          <a:stretch>
            <a:fillRect/>
          </a:stretch>
        </p:blipFill>
        <p:spPr bwMode="auto">
          <a:xfrm>
            <a:off x="1454728" y="1"/>
            <a:ext cx="9628908" cy="339436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 </a:t>
            </a:r>
            <a:r>
              <a:rPr lang="en-US" b="1" dirty="0" smtClean="0">
                <a:hlinkClick r:id="rId2" tooltip="Hold-Out Method"/>
              </a:rPr>
              <a:t>Hold-Out Method</a:t>
            </a:r>
            <a:r>
              <a:rPr lang="en-US" dirty="0" smtClean="0"/>
              <a:t> </a:t>
            </a:r>
          </a:p>
        </p:txBody>
      </p:sp>
      <p:sp>
        <p:nvSpPr>
          <p:cNvPr id="3" name="Content Placeholder 2"/>
          <p:cNvSpPr>
            <a:spLocks noGrp="1"/>
          </p:cNvSpPr>
          <p:nvPr>
            <p:ph idx="1"/>
          </p:nvPr>
        </p:nvSpPr>
        <p:spPr>
          <a:xfrm>
            <a:off x="1451579" y="2015732"/>
            <a:ext cx="9603275" cy="4066413"/>
          </a:xfrm>
        </p:spPr>
        <p:txBody>
          <a:bodyPr>
            <a:normAutofit/>
          </a:bodyPr>
          <a:lstStyle/>
          <a:p>
            <a:r>
              <a:rPr lang="en-US" b="1" dirty="0" smtClean="0"/>
              <a:t>4. </a:t>
            </a:r>
            <a:r>
              <a:rPr lang="en-US" b="1" dirty="0" smtClean="0">
                <a:hlinkClick r:id="rId2" tooltip="Hold-Out Method"/>
              </a:rPr>
              <a:t>Hold-Out Method</a:t>
            </a:r>
            <a:r>
              <a:rPr lang="en-US" dirty="0" smtClean="0"/>
              <a:t> </a:t>
            </a:r>
          </a:p>
          <a:p>
            <a:r>
              <a:rPr lang="en-US" dirty="0" smtClean="0"/>
              <a:t>This is the simplest technique, where the dataset is split once into two parts—typically 70–80% for training and the remainder for validation. It’s quick but can give skewed results if the split isn’t representative. </a:t>
            </a:r>
          </a:p>
          <a:p>
            <a:r>
              <a:rPr lang="en-US" b="1" dirty="0" smtClean="0"/>
              <a:t>Best For</a:t>
            </a:r>
            <a:r>
              <a:rPr lang="en-US" dirty="0" smtClean="0"/>
              <a:t>: Quick performance checks or very large datasets. </a:t>
            </a:r>
          </a:p>
          <a:p>
            <a:r>
              <a:rPr lang="en-US" b="1" dirty="0" smtClean="0"/>
              <a:t>Benefits</a:t>
            </a:r>
            <a:r>
              <a:rPr lang="en-US" dirty="0" smtClean="0"/>
              <a:t>: Fast and easy to implement. </a:t>
            </a:r>
          </a:p>
          <a:p>
            <a:r>
              <a:rPr lang="en-US" b="1" dirty="0" smtClean="0"/>
              <a:t>Limitation</a:t>
            </a:r>
            <a:r>
              <a:rPr lang="en-US" dirty="0" smtClean="0"/>
              <a:t>: High variance; results depend heavily on the random split. </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14945"/>
            <a:ext cx="9603275" cy="4350327"/>
          </a:xfrm>
        </p:spPr>
        <p:txBody>
          <a:bodyPr/>
          <a:lstStyle/>
          <a:p>
            <a:r>
              <a:rPr lang="en-US" dirty="0" smtClean="0"/>
              <a:t>Also called a train-test split, holdout cross-validation has the entire dataset partitioned randomly into a training set and a validation set. A rule of thumb to partition data is that nearly 70% of the whole dataset will be used as a training set and the remaining 30% will be used as a validation set. Since the dataset is split into only two sets, the model is built just one time on the training set and executed faster.</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pic>
        <p:nvPicPr>
          <p:cNvPr id="2050" name="Picture 2"/>
          <p:cNvPicPr>
            <a:picLocks noChangeAspect="1" noChangeArrowheads="1"/>
          </p:cNvPicPr>
          <p:nvPr/>
        </p:nvPicPr>
        <p:blipFill>
          <a:blip r:embed="rId2" cstate="print"/>
          <a:srcRect/>
          <a:stretch>
            <a:fillRect/>
          </a:stretch>
        </p:blipFill>
        <p:spPr bwMode="auto">
          <a:xfrm>
            <a:off x="1574656" y="3685308"/>
            <a:ext cx="9522835" cy="247996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28800"/>
            <a:ext cx="9603275" cy="4322618"/>
          </a:xfrm>
        </p:spPr>
        <p:txBody>
          <a:bodyPr/>
          <a:lstStyle/>
          <a:p>
            <a:r>
              <a:rPr lang="en-US" dirty="0" smtClean="0"/>
              <a:t>In the image above, the dataset is split into a training set and a test set. You can train the model on the training set and test it on the testing dataset. However, if you want to hyper-tune your parameters or want to select the best model, you can make a validation set like the one below.</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pic>
        <p:nvPicPr>
          <p:cNvPr id="3074" name="Picture 2"/>
          <p:cNvPicPr>
            <a:picLocks noChangeAspect="1" noChangeArrowheads="1"/>
          </p:cNvPicPr>
          <p:nvPr/>
        </p:nvPicPr>
        <p:blipFill>
          <a:blip r:embed="rId2" cstate="print"/>
          <a:srcRect/>
          <a:stretch>
            <a:fillRect/>
          </a:stretch>
        </p:blipFill>
        <p:spPr bwMode="auto">
          <a:xfrm>
            <a:off x="1620982" y="3283527"/>
            <a:ext cx="9850582" cy="2784764"/>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Repeated Cross-Validation</a:t>
            </a:r>
            <a:r>
              <a:rPr lang="en-US" dirty="0" smtClean="0"/>
              <a:t>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
        <p:nvSpPr>
          <p:cNvPr id="5" name="Content Placeholder 4"/>
          <p:cNvSpPr>
            <a:spLocks noGrp="1"/>
          </p:cNvSpPr>
          <p:nvPr>
            <p:ph idx="1"/>
          </p:nvPr>
        </p:nvSpPr>
        <p:spPr/>
        <p:txBody>
          <a:bodyPr>
            <a:normAutofit/>
          </a:bodyPr>
          <a:lstStyle/>
          <a:p>
            <a:r>
              <a:rPr lang="en-US" b="1" dirty="0" smtClean="0">
                <a:solidFill>
                  <a:srgbClr val="FF0000"/>
                </a:solidFill>
              </a:rPr>
              <a:t>5. Repeated Cross-Validation</a:t>
            </a:r>
            <a:r>
              <a:rPr lang="en-US" dirty="0" smtClean="0">
                <a:solidFill>
                  <a:srgbClr val="FF0000"/>
                </a:solidFill>
              </a:rPr>
              <a:t> </a:t>
            </a:r>
          </a:p>
          <a:p>
            <a:r>
              <a:rPr lang="en-US" dirty="0" smtClean="0"/>
              <a:t>Repeated K-Fold performs K-Fold cross-validation multiple times with different random splits. The final result is averaged across all iterations for a more robust performance estimate. </a:t>
            </a:r>
          </a:p>
          <a:p>
            <a:r>
              <a:rPr lang="en-US" b="1" dirty="0" smtClean="0"/>
              <a:t>Best For</a:t>
            </a:r>
            <a:r>
              <a:rPr lang="en-US" dirty="0" smtClean="0"/>
              <a:t>: When seeking to reduce variance in performance estimates. </a:t>
            </a:r>
          </a:p>
          <a:p>
            <a:r>
              <a:rPr lang="en-US" b="1" dirty="0" smtClean="0"/>
              <a:t>Benefits</a:t>
            </a:r>
            <a:r>
              <a:rPr lang="en-US" dirty="0" smtClean="0"/>
              <a:t>: More reliable and stable results; reduces the impact of random bias. </a:t>
            </a:r>
          </a:p>
          <a:p>
            <a:r>
              <a:rPr lang="en-US" b="1" dirty="0" smtClean="0"/>
              <a:t>Limitation</a:t>
            </a:r>
            <a:r>
              <a:rPr lang="en-US" dirty="0" smtClean="0"/>
              <a:t>: Time-consuming; computationally heavier.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6. Time Series Split (Rolling/Expanding Window)</a:t>
            </a:r>
            <a:r>
              <a:rPr lang="en-US" dirty="0" smtClean="0"/>
              <a:t>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
        <p:nvSpPr>
          <p:cNvPr id="5" name="Content Placeholder 4"/>
          <p:cNvSpPr>
            <a:spLocks noGrp="1"/>
          </p:cNvSpPr>
          <p:nvPr>
            <p:ph idx="1"/>
          </p:nvPr>
        </p:nvSpPr>
        <p:spPr/>
        <p:txBody>
          <a:bodyPr/>
          <a:lstStyle/>
          <a:p>
            <a:r>
              <a:rPr lang="en-US" b="1" dirty="0" smtClean="0">
                <a:solidFill>
                  <a:srgbClr val="FF0000"/>
                </a:solidFill>
              </a:rPr>
              <a:t>6. Time Series Split (Rolling/Expanding Window)</a:t>
            </a:r>
            <a:r>
              <a:rPr lang="en-US" dirty="0" smtClean="0">
                <a:solidFill>
                  <a:srgbClr val="FF0000"/>
                </a:solidFill>
              </a:rPr>
              <a:t> </a:t>
            </a:r>
          </a:p>
          <a:p>
            <a:r>
              <a:rPr lang="en-US" dirty="0" smtClean="0"/>
              <a:t>In time-series data, maintaining temporal order is crucial. Instead of random splits, data is split sequentially—where the training set consists of all data before a point, and the test set consists of data that follows. </a:t>
            </a:r>
          </a:p>
          <a:p>
            <a:r>
              <a:rPr lang="en-US" b="1" dirty="0" smtClean="0"/>
              <a:t>Best For</a:t>
            </a:r>
            <a:r>
              <a:rPr lang="en-US" dirty="0" smtClean="0"/>
              <a:t>: Forecasting and time-series modeling. </a:t>
            </a:r>
          </a:p>
          <a:p>
            <a:r>
              <a:rPr lang="en-US" b="1" dirty="0" smtClean="0"/>
              <a:t>Benefits</a:t>
            </a:r>
            <a:r>
              <a:rPr lang="en-US" dirty="0" smtClean="0"/>
              <a:t>: Preserves data chronology; realistic scenario testing. </a:t>
            </a:r>
          </a:p>
          <a:p>
            <a:r>
              <a:rPr lang="en-US" b="1" dirty="0" smtClean="0"/>
              <a:t>Limitation</a:t>
            </a:r>
            <a:r>
              <a:rPr lang="en-US" dirty="0" smtClean="0"/>
              <a:t>: Reduced training data in early folds; more sensitive to trends and seasonality.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773382"/>
            <a:ext cx="9603275" cy="4433454"/>
          </a:xfrm>
        </p:spPr>
        <p:txBody>
          <a:bodyPr>
            <a:normAutofit/>
          </a:bodyPr>
          <a:lstStyle/>
          <a:p>
            <a:r>
              <a:rPr lang="en-US" dirty="0" smtClean="0"/>
              <a:t>Time series is the type of data collected at different points in time. This kind of data allows one to understand what factors influence certain variables from period to period. Some examples of time series data are weather records, economic indicators, etc.</a:t>
            </a:r>
          </a:p>
          <a:p>
            <a:r>
              <a:rPr lang="en-US" dirty="0" smtClean="0"/>
              <a:t>In the case of time series datasets, the cross-validation is not that trivial. You can’t choose data instances randomly and assign them the test set or the train set. Hence, this technique is used to perform cross-validation on time series data with time as the important factor.</a:t>
            </a:r>
          </a:p>
          <a:p>
            <a:r>
              <a:rPr lang="en-US" dirty="0" smtClean="0"/>
              <a:t>Since the order of data is very important for time series-related problems, the dataset is split into training and validation sets according to time. Therefore, it’s also called the forward chaining method or rolling cross-validation.</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2015732"/>
            <a:ext cx="9603275" cy="4135686"/>
          </a:xfrm>
        </p:spPr>
        <p:txBody>
          <a:bodyPr/>
          <a:lstStyle/>
          <a:p>
            <a:endParaRPr lang="en-US" dirty="0" smtClean="0"/>
          </a:p>
          <a:p>
            <a:endParaRPr lang="en-US" dirty="0" smtClean="0"/>
          </a:p>
          <a:p>
            <a:endParaRPr lang="en-US" dirty="0" smtClean="0"/>
          </a:p>
          <a:p>
            <a:endParaRPr lang="en-US" dirty="0" smtClean="0"/>
          </a:p>
          <a:p>
            <a:r>
              <a:rPr lang="en-US" dirty="0" smtClean="0"/>
              <a:t>To begin:</a:t>
            </a:r>
            <a:br>
              <a:rPr lang="en-US" dirty="0" smtClean="0"/>
            </a:br>
            <a:r>
              <a:rPr lang="en-US" dirty="0" smtClean="0"/>
              <a:t>Start the training with a small subset of data. Perform forecasting for the later data points and check their accuracy. The forecasted data points are then included as part of the next training dataset and the next data points are forecasted. The process goes on.</a:t>
            </a:r>
          </a:p>
          <a:p>
            <a:r>
              <a:rPr lang="en-US" dirty="0" smtClean="0"/>
              <a:t>The image </a:t>
            </a:r>
            <a:r>
              <a:rPr lang="en-US" dirty="0" smtClean="0"/>
              <a:t>above </a:t>
            </a:r>
            <a:r>
              <a:rPr lang="en-US" dirty="0" smtClean="0"/>
              <a:t>shows the method.</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pic>
        <p:nvPicPr>
          <p:cNvPr id="6146" name="Picture 2"/>
          <p:cNvPicPr>
            <a:picLocks noChangeAspect="1" noChangeArrowheads="1"/>
          </p:cNvPicPr>
          <p:nvPr/>
        </p:nvPicPr>
        <p:blipFill>
          <a:blip r:embed="rId2" cstate="print"/>
          <a:srcRect/>
          <a:stretch>
            <a:fillRect/>
          </a:stretch>
        </p:blipFill>
        <p:spPr bwMode="auto">
          <a:xfrm>
            <a:off x="1399309" y="1"/>
            <a:ext cx="9684327" cy="3851564"/>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3332</TotalTime>
  <Words>1673</Words>
  <Application>Microsoft Office PowerPoint</Application>
  <PresentationFormat>Custom</PresentationFormat>
  <Paragraphs>134</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Gallery</vt:lpstr>
      <vt:lpstr>Slide 1</vt:lpstr>
      <vt:lpstr>Transparency </vt:lpstr>
      <vt:lpstr>Human-in-the-loop (HITL)</vt:lpstr>
      <vt:lpstr>Benefits of HITL </vt:lpstr>
      <vt:lpstr>Advanced Evaluation Methods: Cross-validation strategies: stratified k-fold</vt:lpstr>
      <vt:lpstr>Benefits of using cross-validation:</vt:lpstr>
      <vt:lpstr>Common Cross-Validation Techniques</vt:lpstr>
      <vt:lpstr>CONTD..</vt:lpstr>
      <vt:lpstr>CONTD..</vt:lpstr>
      <vt:lpstr>Slide 10</vt:lpstr>
      <vt:lpstr>Slide 11</vt:lpstr>
      <vt:lpstr>3. Leave-One-Out Cross-Validation (LOOCV) </vt:lpstr>
      <vt:lpstr>Slide 13</vt:lpstr>
      <vt:lpstr>4. Hold-Out Method </vt:lpstr>
      <vt:lpstr>CONTD..</vt:lpstr>
      <vt:lpstr>CONTD..</vt:lpstr>
      <vt:lpstr>5. Repeated Cross-Validation </vt:lpstr>
      <vt:lpstr>6. Time Series Split (Rolling/Expanding Window) </vt:lpstr>
      <vt:lpstr>CONTD..</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105</cp:revision>
  <dcterms:created xsi:type="dcterms:W3CDTF">2023-05-06T03:47:00Z</dcterms:created>
  <dcterms:modified xsi:type="dcterms:W3CDTF">2025-10-21T11:01:09Z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